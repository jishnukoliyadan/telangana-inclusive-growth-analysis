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164c739a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8164c739a8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164c739a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8164c739a8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164c739a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8164c739a8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164c739a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8164c739a8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164c739a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8164c739a8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164c739a8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8164c739a8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164c739a8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8164c739a8_0_1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164c739a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8164c739a8_0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164c739a8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8164c739a8_0_1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hyperlink" Target="http://data.telangana.gov.in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hyperlink" Target="https://drive.google.com/file/d/1qL87BEf3Z44k1dA-5kQ6GbqQZynvd5-Z/view?usp=sharing" TargetMode="External"/><Relationship Id="rId10" Type="http://schemas.openxmlformats.org/officeDocument/2006/relationships/hyperlink" Target="https://data.telangana.gov.in/dataset/regional-transport-authority-vehicle-online-sales-data-2019-2025" TargetMode="External"/><Relationship Id="rId13" Type="http://schemas.openxmlformats.org/officeDocument/2006/relationships/hyperlink" Target="https://drive.google.com/file/d/12Mw7umbGGpRJBPqtCXTskNPC6DKYSb_9/view?usp=sharing" TargetMode="External"/><Relationship Id="rId12" Type="http://schemas.openxmlformats.org/officeDocument/2006/relationships/hyperlink" Target="https://drive.google.com/file/d/1fHG2tpTZiykS6a2NKf8V6foNVHMtxPoZ/view?usp=sharing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Relationship Id="rId4" Type="http://schemas.openxmlformats.org/officeDocument/2006/relationships/image" Target="../media/image2.png"/><Relationship Id="rId9" Type="http://schemas.openxmlformats.org/officeDocument/2006/relationships/hyperlink" Target="https://data.telangana.gov.in/dataset/telangana-industries-ts-ipass-data" TargetMode="External"/><Relationship Id="rId15" Type="http://schemas.openxmlformats.org/officeDocument/2006/relationships/hyperlink" Target="https://colab.research.google.com/drive/1V-tUVj7GwDIZiOW4p44RMPkcD-9-5pyk?usp=sharing" TargetMode="External"/><Relationship Id="rId14" Type="http://schemas.openxmlformats.org/officeDocument/2006/relationships/hyperlink" Target="https://colab.research.google.com/drive/1o5EwsSmHu5fQyP3qanJ8LZZBDiGqgJDg?usp=sharing" TargetMode="External"/><Relationship Id="rId5" Type="http://schemas.openxmlformats.org/officeDocument/2006/relationships/image" Target="../media/image13.png"/><Relationship Id="rId6" Type="http://schemas.openxmlformats.org/officeDocument/2006/relationships/image" Target="../media/image8.png"/><Relationship Id="rId7" Type="http://schemas.openxmlformats.org/officeDocument/2006/relationships/image" Target="../media/image12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2111" r="2110" t="0"/>
          <a:stretch/>
        </p:blipFill>
        <p:spPr>
          <a:xfrm>
            <a:off x="0" y="0"/>
            <a:ext cx="18288003" cy="1028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80170">
            <a:off x="-9637534" y="1526078"/>
            <a:ext cx="16230600" cy="75675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13"/>
          <p:cNvGrpSpPr/>
          <p:nvPr/>
        </p:nvGrpSpPr>
        <p:grpSpPr>
          <a:xfrm>
            <a:off x="4307850" y="1832000"/>
            <a:ext cx="10624800" cy="3114774"/>
            <a:chOff x="4307850" y="1141500"/>
            <a:chExt cx="10624800" cy="2610875"/>
          </a:xfrm>
        </p:grpSpPr>
        <p:sp>
          <p:nvSpPr>
            <p:cNvPr id="87" name="Google Shape;87;p13"/>
            <p:cNvSpPr txBox="1"/>
            <p:nvPr/>
          </p:nvSpPr>
          <p:spPr>
            <a:xfrm>
              <a:off x="4307850" y="1141500"/>
              <a:ext cx="10624800" cy="170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Unraveling Telangana's Path to Inclusive Development</a:t>
              </a:r>
              <a:endParaRPr b="1" sz="6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" name="Google Shape;88;p13"/>
            <p:cNvSpPr txBox="1"/>
            <p:nvPr/>
          </p:nvSpPr>
          <p:spPr>
            <a:xfrm>
              <a:off x="5680500" y="3236375"/>
              <a:ext cx="7879500" cy="5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Final Report for: The BDM Capstone Project</a:t>
              </a:r>
              <a:endPara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4437662" y="7474944"/>
            <a:ext cx="92856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by: Jishnu S G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Number: 21f1006877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Institution: Indian Institute of Technology, Madras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 rotWithShape="1">
          <a:blip r:embed="rId3">
            <a:alphaModFix/>
          </a:blip>
          <a:srcRect b="0" l="2107" r="2116" t="0"/>
          <a:stretch/>
        </p:blipFill>
        <p:spPr>
          <a:xfrm>
            <a:off x="0" y="0"/>
            <a:ext cx="18288003" cy="10286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14"/>
          <p:cNvGrpSpPr/>
          <p:nvPr/>
        </p:nvGrpSpPr>
        <p:grpSpPr>
          <a:xfrm>
            <a:off x="925268" y="489850"/>
            <a:ext cx="16899638" cy="9089525"/>
            <a:chOff x="1251819" y="489850"/>
            <a:chExt cx="16029250" cy="9089525"/>
          </a:xfrm>
        </p:grpSpPr>
        <p:sp>
          <p:nvSpPr>
            <p:cNvPr id="96" name="Google Shape;96;p14"/>
            <p:cNvSpPr txBox="1"/>
            <p:nvPr/>
          </p:nvSpPr>
          <p:spPr>
            <a:xfrm>
              <a:off x="1251819" y="489850"/>
              <a:ext cx="12123300" cy="119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3675" lIns="93675" spcFirstLastPara="1" rIns="93675" wrap="square" tIns="93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122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About the Organization &amp; Data</a:t>
              </a:r>
              <a:endParaRPr b="1" sz="512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8518069" y="2258775"/>
              <a:ext cx="8763000" cy="73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3675" lIns="93675" spcFirstLastPara="1" rIns="93675" wrap="square" tIns="93675">
              <a:noAutofit/>
            </a:bodyPr>
            <a:lstStyle/>
            <a:p>
              <a:pPr indent="-387350" lvl="0" marL="4572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●"/>
              </a:pP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Telangana is a south-central state in Indian subcontinent with rich history, diverse culture and rapid growth.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0" marL="4572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●"/>
              </a:pP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States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Vision : A leader in data-driven governance, committed to balancing industrial growth and agrarian sustainability.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0" marL="4572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●"/>
              </a:pP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Open Data Telangana : An 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initiative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from g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overnment to enhance transparency and data accessibility .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0" marL="4572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●"/>
              </a:pP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This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analysis is based on data scraped from this public portal.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0" marL="4572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●"/>
              </a:pP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Datasets : We analyzed TS-iPASS, Vehicle Registrations, Land Registrations, and Weather data covering the period from 2019 to 2024.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98" name="Google Shape;98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251825" y="2258775"/>
              <a:ext cx="7075751" cy="70199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2107" r="2116" t="0"/>
          <a:stretch/>
        </p:blipFill>
        <p:spPr>
          <a:xfrm>
            <a:off x="0" y="0"/>
            <a:ext cx="18288003" cy="10286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15"/>
          <p:cNvGrpSpPr/>
          <p:nvPr/>
        </p:nvGrpSpPr>
        <p:grpSpPr>
          <a:xfrm>
            <a:off x="925268" y="489850"/>
            <a:ext cx="16899698" cy="9089600"/>
            <a:chOff x="1251819" y="489850"/>
            <a:chExt cx="16029307" cy="9089600"/>
          </a:xfrm>
        </p:grpSpPr>
        <p:sp>
          <p:nvSpPr>
            <p:cNvPr id="105" name="Google Shape;105;p15"/>
            <p:cNvSpPr txBox="1"/>
            <p:nvPr/>
          </p:nvSpPr>
          <p:spPr>
            <a:xfrm>
              <a:off x="1251819" y="489850"/>
              <a:ext cx="12123300" cy="119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3675" lIns="93675" spcFirstLastPara="1" rIns="93675" wrap="square" tIns="93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122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Problems &amp; Objectives</a:t>
              </a:r>
              <a:endParaRPr b="1" sz="512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" name="Google Shape;106;p15"/>
            <p:cNvSpPr txBox="1"/>
            <p:nvPr/>
          </p:nvSpPr>
          <p:spPr>
            <a:xfrm>
              <a:off x="1251826" y="2299950"/>
              <a:ext cx="16029300" cy="72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3675" lIns="93675" spcFirstLastPara="1" rIns="93675" wrap="square" tIns="93675">
              <a:noAutofit/>
            </a:bodyPr>
            <a:lstStyle/>
            <a:p>
              <a:pPr indent="-419100" lvl="0" marL="4572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Times New Roman"/>
                <a:buChar char="●"/>
              </a:pPr>
              <a:r>
                <a:rPr b="1" lang="en-US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Problems</a:t>
              </a:r>
              <a:endParaRPr b="1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1" marL="9144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○"/>
              </a:pPr>
              <a:r>
                <a:rPr b="1"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Problem 1 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Small investments face systemic approval delays : Smaller projects may experience disproportionately longer approval timelines compared to large-scale proposals, discouraging local entrepreneurship.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1" marL="9144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○"/>
              </a:pPr>
              <a:r>
                <a:rPr b="1"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Problem 2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: e-Stamp adoption efficiency over document registration : Identify if digital transitions in registrations improved revenue collection efficiency for scalable governance and promoting digital inclusion.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1" marL="9144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○"/>
              </a:pPr>
              <a:r>
                <a:rPr b="1"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Problem 3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: Rainfall-mechanization mismatch inflates farm costs : Uneven rainfall forces over/under investments in agri-vehicles without promising irrigation infrastructure might lead to unnecessary capital expenditure and subsidies.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419100" lvl="0" marL="4572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Times New Roman"/>
                <a:buChar char="●"/>
              </a:pPr>
              <a:r>
                <a:rPr b="1" lang="en-US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Objective</a:t>
              </a:r>
              <a:endParaRPr b="1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1" marL="9144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○"/>
              </a:pP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provide data-backed recommendations that ensure inclusive growth and climate resilience.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1" marL="9144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○"/>
              </a:pP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bridge the urban-rural divide by aligning government policies with real-world data.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2107" r="2116" t="0"/>
          <a:stretch/>
        </p:blipFill>
        <p:spPr>
          <a:xfrm>
            <a:off x="0" y="0"/>
            <a:ext cx="18288003" cy="10286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6"/>
          <p:cNvGrpSpPr/>
          <p:nvPr/>
        </p:nvGrpSpPr>
        <p:grpSpPr>
          <a:xfrm>
            <a:off x="925308" y="489850"/>
            <a:ext cx="16452490" cy="9089750"/>
            <a:chOff x="1251819" y="489850"/>
            <a:chExt cx="16029316" cy="9089750"/>
          </a:xfrm>
        </p:grpSpPr>
        <p:sp>
          <p:nvSpPr>
            <p:cNvPr id="113" name="Google Shape;113;p16"/>
            <p:cNvSpPr txBox="1"/>
            <p:nvPr/>
          </p:nvSpPr>
          <p:spPr>
            <a:xfrm>
              <a:off x="1251819" y="489850"/>
              <a:ext cx="12123300" cy="119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3675" lIns="93675" spcFirstLastPara="1" rIns="93675" wrap="square" tIns="93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122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and Methodology</a:t>
              </a:r>
              <a:endParaRPr b="1" sz="512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" name="Google Shape;114;p16"/>
            <p:cNvSpPr txBox="1"/>
            <p:nvPr/>
          </p:nvSpPr>
          <p:spPr>
            <a:xfrm>
              <a:off x="1251835" y="2276700"/>
              <a:ext cx="16029300" cy="73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3675" lIns="93675" spcFirstLastPara="1" rIns="93675" wrap="square" tIns="93675">
              <a:noAutofit/>
            </a:bodyPr>
            <a:lstStyle/>
            <a:p>
              <a:pPr indent="-419100" lvl="0" marL="4572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Times New Roman"/>
                <a:buChar char="●"/>
              </a:pPr>
              <a:r>
                <a:rPr b="1" lang="en-US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Sourcing</a:t>
              </a:r>
              <a:endParaRPr b="1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1" marL="9144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○"/>
              </a:pP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We used a web-scraping script to collect data from the </a:t>
              </a:r>
              <a:r>
                <a:rPr lang="en-US" sz="2500" u="sng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  <a:hlinkClick r:id="rId4"/>
                </a:rPr>
                <a:t>data.telangana.gov.in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portal in tabular format.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419100" lvl="0" marL="4572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Times New Roman"/>
                <a:buChar char="●"/>
              </a:pPr>
              <a:r>
                <a:rPr b="1" lang="en-US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Cleaning</a:t>
              </a:r>
              <a:endParaRPr b="1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1" marL="9144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○"/>
              </a:pP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raw data was meticulously cleaned and unified to handle inconsistencies in naming, dates, and categories.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1" marL="9144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○"/>
              </a:pP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Python and pandas module for the data cleaning and filtering data from 2019 to 2024 only.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419100" lvl="0" marL="4572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Times New Roman"/>
                <a:buChar char="●"/>
              </a:pPr>
              <a:r>
                <a:rPr b="1" lang="en-US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Analysis</a:t>
              </a:r>
              <a:endParaRPr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1" marL="9144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○"/>
              </a:pP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We mainly u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sed time-series, 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statistical and 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comparative analytics to generate district-level insights from the data.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419100" lvl="0" marL="4572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Times New Roman"/>
                <a:buChar char="●"/>
              </a:pPr>
              <a:r>
                <a:rPr b="1" lang="en-US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Visualizations</a:t>
              </a:r>
              <a:endParaRPr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1" marL="9144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○"/>
              </a:pP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findings are presented using plots from Matplotlib, Seaborn, and Plotly.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7"/>
          <p:cNvPicPr preferRelativeResize="0"/>
          <p:nvPr/>
        </p:nvPicPr>
        <p:blipFill rotWithShape="1">
          <a:blip r:embed="rId3">
            <a:alphaModFix/>
          </a:blip>
          <a:srcRect b="0" l="2107" r="2116" t="0"/>
          <a:stretch/>
        </p:blipFill>
        <p:spPr>
          <a:xfrm>
            <a:off x="0" y="0"/>
            <a:ext cx="18288003" cy="1028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 title="number_of_projects_by_investment_categor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5300" y="1823600"/>
            <a:ext cx="7829499" cy="401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 title="average_approval_delay_by_project_investment_siz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5300" y="5989200"/>
            <a:ext cx="7829499" cy="3766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7"/>
          <p:cNvGrpSpPr/>
          <p:nvPr/>
        </p:nvGrpSpPr>
        <p:grpSpPr>
          <a:xfrm>
            <a:off x="925314" y="489850"/>
            <a:ext cx="16645529" cy="9089675"/>
            <a:chOff x="925308" y="489850"/>
            <a:chExt cx="16454655" cy="9089675"/>
          </a:xfrm>
        </p:grpSpPr>
        <p:grpSp>
          <p:nvGrpSpPr>
            <p:cNvPr id="123" name="Google Shape;123;p17"/>
            <p:cNvGrpSpPr/>
            <p:nvPr/>
          </p:nvGrpSpPr>
          <p:grpSpPr>
            <a:xfrm>
              <a:off x="925308" y="489850"/>
              <a:ext cx="16454655" cy="9089675"/>
              <a:chOff x="1251819" y="489850"/>
              <a:chExt cx="16031425" cy="9089675"/>
            </a:xfrm>
          </p:grpSpPr>
          <p:sp>
            <p:nvSpPr>
              <p:cNvPr id="124" name="Google Shape;124;p17"/>
              <p:cNvSpPr txBox="1"/>
              <p:nvPr/>
            </p:nvSpPr>
            <p:spPr>
              <a:xfrm>
                <a:off x="1251819" y="489850"/>
                <a:ext cx="12123300" cy="119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3675" lIns="93675" spcFirstLastPara="1" rIns="93675" wrap="square" tIns="936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5122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Key Findings: Problem 1</a:t>
                </a:r>
                <a:endParaRPr b="1" sz="5122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5" name="Google Shape;125;p17"/>
              <p:cNvSpPr txBox="1"/>
              <p:nvPr/>
            </p:nvSpPr>
            <p:spPr>
              <a:xfrm>
                <a:off x="9261245" y="2801025"/>
                <a:ext cx="8022000" cy="677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3675" lIns="93675" spcFirstLastPara="1" rIns="93675" wrap="square" tIns="93675">
                <a:noAutofit/>
              </a:bodyPr>
              <a:lstStyle/>
              <a:p>
                <a:pPr indent="-412750" lvl="0" marL="45720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900"/>
                  <a:buFont typeface="Times New Roman"/>
                  <a:buChar char="●"/>
                </a:pPr>
                <a:r>
                  <a:rPr b="1"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Initial Hypothesis</a:t>
                </a:r>
                <a:endParaRPr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412750" lvl="1" marL="91440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900"/>
                  <a:buFont typeface="Times New Roman"/>
                  <a:buChar char="○"/>
                </a:pP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The </a:t>
                </a: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portrayal</a:t>
                </a: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of states </a:t>
                </a: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growth</a:t>
                </a: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was shown as the large scale investments.</a:t>
                </a:r>
                <a:endParaRPr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412750" lvl="1" marL="91440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900"/>
                  <a:buFont typeface="Times New Roman"/>
                  <a:buChar char="○"/>
                </a:pP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This </a:t>
                </a: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led us to assume MSMEs faces systemic delays.</a:t>
                </a:r>
                <a:endParaRPr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387350" lvl="0" marL="45720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500"/>
                  <a:buFont typeface="Times New Roman"/>
                  <a:buChar char="●"/>
                </a:pPr>
                <a:r>
                  <a:rPr b="1"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Data-Driven Finding </a:t>
                </a: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:</a:t>
                </a:r>
                <a:endParaRPr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387350" lvl="1" marL="91440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500"/>
                  <a:buFont typeface="Times New Roman"/>
                  <a:buChar char="○"/>
                </a:pP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Most projects are of investments under 5 </a:t>
                </a: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crores.</a:t>
                </a:r>
                <a:endParaRPr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387350" lvl="1" marL="91440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500"/>
                  <a:buFont typeface="Times New Roman"/>
                  <a:buChar char="○"/>
                </a:pP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Job creation doesn’t directly scales with investment size.</a:t>
                </a: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  <a:endParaRPr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387350" lvl="1" marL="91440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500"/>
                  <a:buFont typeface="Times New Roman"/>
                  <a:buChar char="○"/>
                </a:pP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Direct analysis of approval times revealed the opposite.</a:t>
                </a:r>
                <a:endParaRPr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387350" lvl="1" marL="91440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500"/>
                  <a:buFont typeface="Times New Roman"/>
                  <a:buChar char="○"/>
                </a:pP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The longest approval delays are for the largest projects, not small businesses.</a:t>
                </a:r>
                <a:endParaRPr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387350" lvl="1" marL="91440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500"/>
                  <a:buFont typeface="Times New Roman"/>
                  <a:buChar char="○"/>
                </a:pP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Approval timeline is correlated with type of sector.</a:t>
                </a:r>
                <a:endParaRPr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26" name="Google Shape;126;p17"/>
            <p:cNvSpPr txBox="1"/>
            <p:nvPr/>
          </p:nvSpPr>
          <p:spPr>
            <a:xfrm>
              <a:off x="9148431" y="1601925"/>
              <a:ext cx="8229300" cy="119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Small businesses face approval delays, which may limit entrepreneurship.</a:t>
              </a:r>
              <a:endParaRPr b="1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8"/>
          <p:cNvPicPr preferRelativeResize="0"/>
          <p:nvPr/>
        </p:nvPicPr>
        <p:blipFill rotWithShape="1">
          <a:blip r:embed="rId3">
            <a:alphaModFix/>
          </a:blip>
          <a:srcRect b="0" l="2107" r="2116" t="0"/>
          <a:stretch/>
        </p:blipFill>
        <p:spPr>
          <a:xfrm>
            <a:off x="0" y="0"/>
            <a:ext cx="18288003" cy="1028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5300" y="6205675"/>
            <a:ext cx="7774351" cy="3723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5300" y="1833275"/>
            <a:ext cx="7774351" cy="42713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" name="Google Shape;134;p18"/>
          <p:cNvGrpSpPr/>
          <p:nvPr/>
        </p:nvGrpSpPr>
        <p:grpSpPr>
          <a:xfrm>
            <a:off x="925295" y="489850"/>
            <a:ext cx="16565994" cy="9089700"/>
            <a:chOff x="925308" y="489850"/>
            <a:chExt cx="16452472" cy="9089700"/>
          </a:xfrm>
        </p:grpSpPr>
        <p:grpSp>
          <p:nvGrpSpPr>
            <p:cNvPr id="135" name="Google Shape;135;p18"/>
            <p:cNvGrpSpPr/>
            <p:nvPr/>
          </p:nvGrpSpPr>
          <p:grpSpPr>
            <a:xfrm>
              <a:off x="925308" y="489850"/>
              <a:ext cx="16452472" cy="9089700"/>
              <a:chOff x="1251819" y="489850"/>
              <a:chExt cx="16029299" cy="9089700"/>
            </a:xfrm>
          </p:grpSpPr>
          <p:sp>
            <p:nvSpPr>
              <p:cNvPr id="136" name="Google Shape;136;p18"/>
              <p:cNvSpPr txBox="1"/>
              <p:nvPr/>
            </p:nvSpPr>
            <p:spPr>
              <a:xfrm>
                <a:off x="1251819" y="489850"/>
                <a:ext cx="12123300" cy="119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3675" lIns="93675" spcFirstLastPara="1" rIns="93675" wrap="square" tIns="936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5122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Key Findings: Problem 2</a:t>
                </a:r>
                <a:endParaRPr b="1" sz="5122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7" name="Google Shape;137;p18"/>
              <p:cNvSpPr txBox="1"/>
              <p:nvPr/>
            </p:nvSpPr>
            <p:spPr>
              <a:xfrm>
                <a:off x="9259118" y="2771050"/>
                <a:ext cx="8022000" cy="680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3675" lIns="93675" spcFirstLastPara="1" rIns="93675" wrap="square" tIns="93675">
                <a:noAutofit/>
              </a:bodyPr>
              <a:lstStyle/>
              <a:p>
                <a:pPr indent="-412750" lvl="0" marL="45720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900"/>
                  <a:buFont typeface="Times New Roman"/>
                  <a:buChar char="●"/>
                </a:pP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The Instantaneous Transition</a:t>
                </a:r>
                <a:endParaRPr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412750" lvl="1" marL="91440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900"/>
                  <a:buFont typeface="Times New Roman"/>
                  <a:buChar char="○"/>
                </a:pP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E-stamp revenue was zero until late 2020, then suddenly took over as the dominant revenue source.</a:t>
                </a:r>
                <a:endParaRPr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387350" lvl="0" marL="45720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500"/>
                  <a:buFont typeface="Times New Roman"/>
                  <a:buChar char="●"/>
                </a:pP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Districts generating most of the total registration revenue are major urban and peri-urban districts.</a:t>
                </a:r>
                <a:endParaRPr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387350" lvl="0" marL="45720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500"/>
                  <a:buFont typeface="Times New Roman"/>
                  <a:buChar char="●"/>
                </a:pP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Districts </a:t>
                </a: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that </a:t>
                </a: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generate most revenue and districts with most investment are highly overlapped.</a:t>
                </a:r>
                <a:endParaRPr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387350" lvl="0" marL="45720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500"/>
                  <a:buFont typeface="Times New Roman"/>
                  <a:buChar char="●"/>
                </a:pP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The fast e-stamp adoption shows scalable governance</a:t>
                </a: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and </a:t>
                </a: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digital inclusion, </a:t>
                </a: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thus</a:t>
                </a: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transforming document registration for the state ot fully digital.</a:t>
                </a:r>
                <a:endParaRPr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38" name="Google Shape;138;p18"/>
            <p:cNvSpPr txBox="1"/>
            <p:nvPr/>
          </p:nvSpPr>
          <p:spPr>
            <a:xfrm>
              <a:off x="9148425" y="1688950"/>
              <a:ext cx="8229300" cy="108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E-Stamp Digital Transformation</a:t>
              </a:r>
              <a:endParaRPr b="1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9"/>
          <p:cNvPicPr preferRelativeResize="0"/>
          <p:nvPr/>
        </p:nvPicPr>
        <p:blipFill rotWithShape="1">
          <a:blip r:embed="rId3">
            <a:alphaModFix/>
          </a:blip>
          <a:srcRect b="0" l="2107" r="2116" t="0"/>
          <a:stretch/>
        </p:blipFill>
        <p:spPr>
          <a:xfrm>
            <a:off x="0" y="0"/>
            <a:ext cx="18288003" cy="1028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9" title="top_10_agro_mechanization_districts_sales_vs_rainfall_variability.png"/>
          <p:cNvPicPr preferRelativeResize="0"/>
          <p:nvPr/>
        </p:nvPicPr>
        <p:blipFill rotWithShape="1">
          <a:blip r:embed="rId4">
            <a:alphaModFix/>
          </a:blip>
          <a:srcRect b="0" l="1765" r="1765" t="0"/>
          <a:stretch/>
        </p:blipFill>
        <p:spPr>
          <a:xfrm>
            <a:off x="925300" y="1823600"/>
            <a:ext cx="7829499" cy="369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5300" y="5623200"/>
            <a:ext cx="7829499" cy="43780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19"/>
          <p:cNvGrpSpPr/>
          <p:nvPr/>
        </p:nvGrpSpPr>
        <p:grpSpPr>
          <a:xfrm>
            <a:off x="925271" y="489850"/>
            <a:ext cx="16738745" cy="9089700"/>
            <a:chOff x="925308" y="489850"/>
            <a:chExt cx="16452472" cy="9089700"/>
          </a:xfrm>
        </p:grpSpPr>
        <p:grpSp>
          <p:nvGrpSpPr>
            <p:cNvPr id="147" name="Google Shape;147;p19"/>
            <p:cNvGrpSpPr/>
            <p:nvPr/>
          </p:nvGrpSpPr>
          <p:grpSpPr>
            <a:xfrm>
              <a:off x="925308" y="489850"/>
              <a:ext cx="16452472" cy="9089700"/>
              <a:chOff x="1251819" y="489850"/>
              <a:chExt cx="16029299" cy="9089700"/>
            </a:xfrm>
          </p:grpSpPr>
          <p:sp>
            <p:nvSpPr>
              <p:cNvPr id="148" name="Google Shape;148;p19"/>
              <p:cNvSpPr txBox="1"/>
              <p:nvPr/>
            </p:nvSpPr>
            <p:spPr>
              <a:xfrm>
                <a:off x="1251819" y="489850"/>
                <a:ext cx="12123300" cy="119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3675" lIns="93675" spcFirstLastPara="1" rIns="93675" wrap="square" tIns="936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5122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Key Findings: Problem 3</a:t>
                </a:r>
                <a:endParaRPr b="1" sz="5122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9" name="Google Shape;149;p19"/>
              <p:cNvSpPr txBox="1"/>
              <p:nvPr/>
            </p:nvSpPr>
            <p:spPr>
              <a:xfrm>
                <a:off x="9259118" y="2792650"/>
                <a:ext cx="8022000" cy="678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3675" lIns="93675" spcFirstLastPara="1" rIns="93675" wrap="square" tIns="93675">
                <a:noAutofit/>
              </a:bodyPr>
              <a:lstStyle/>
              <a:p>
                <a:pPr indent="-412750" lvl="0" marL="45720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900"/>
                  <a:buFont typeface="Times New Roman"/>
                  <a:buChar char="●"/>
                </a:pP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Districts with the highest agricultural vehicle sales shows moderate rainfall variability but not the highest.</a:t>
                </a:r>
                <a:endParaRPr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387350" lvl="0" marL="45720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500"/>
                  <a:buFont typeface="Times New Roman"/>
                  <a:buChar char="●"/>
                </a:pP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Districts having rain variability range 5-7 shows </a:t>
                </a: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the </a:t>
                </a: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most vehicle sales, and are not urban districts.</a:t>
                </a:r>
                <a:endParaRPr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387350" lvl="0" marL="45720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500"/>
                  <a:buFont typeface="Times New Roman"/>
                  <a:buChar char="●"/>
                </a:pP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Districts like Nalgonda and Suryapet were in the top 15 districts attracted highest investments.</a:t>
                </a:r>
                <a:endParaRPr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412750" lvl="0" marL="45720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900"/>
                  <a:buFont typeface="Times New Roman"/>
                  <a:buChar char="●"/>
                </a:pP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Dual-axis plot shows, districts with the most agri-vehicle sales have moderate rainfall unpredictability, not the highest.</a:t>
                </a:r>
                <a:endParaRPr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387350" lvl="0" marL="45720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500"/>
                  <a:buFont typeface="Times New Roman"/>
                  <a:buChar char="●"/>
                </a:pP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</a:t>
                </a:r>
                <a:r>
                  <a:rPr lang="en-US" sz="25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catter plot confirms, regions with the most unpredictable rainfall often have lower agri-vehicle sales.</a:t>
                </a:r>
                <a:endParaRPr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50" name="Google Shape;150;p19"/>
            <p:cNvSpPr txBox="1"/>
            <p:nvPr/>
          </p:nvSpPr>
          <p:spPr>
            <a:xfrm>
              <a:off x="9148425" y="1688950"/>
              <a:ext cx="8229300" cy="11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Agri-Mechanization Mismatch</a:t>
              </a:r>
              <a:endParaRPr b="1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0"/>
          <p:cNvPicPr preferRelativeResize="0"/>
          <p:nvPr/>
        </p:nvPicPr>
        <p:blipFill rotWithShape="1">
          <a:blip r:embed="rId3">
            <a:alphaModFix/>
          </a:blip>
          <a:srcRect b="0" l="2107" r="2116" t="0"/>
          <a:stretch/>
        </p:blipFill>
        <p:spPr>
          <a:xfrm>
            <a:off x="0" y="0"/>
            <a:ext cx="18288003" cy="10286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" name="Google Shape;156;p20"/>
          <p:cNvGrpSpPr/>
          <p:nvPr/>
        </p:nvGrpSpPr>
        <p:grpSpPr>
          <a:xfrm>
            <a:off x="925308" y="489850"/>
            <a:ext cx="16452490" cy="9089650"/>
            <a:chOff x="1251819" y="489850"/>
            <a:chExt cx="16029316" cy="9089650"/>
          </a:xfrm>
        </p:grpSpPr>
        <p:sp>
          <p:nvSpPr>
            <p:cNvPr id="157" name="Google Shape;157;p20"/>
            <p:cNvSpPr txBox="1"/>
            <p:nvPr/>
          </p:nvSpPr>
          <p:spPr>
            <a:xfrm>
              <a:off x="1251819" y="489850"/>
              <a:ext cx="12123300" cy="119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3675" lIns="93675" spcFirstLastPara="1" rIns="93675" wrap="square" tIns="93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122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Recommendations for Strategic Action</a:t>
              </a:r>
              <a:endParaRPr b="1" sz="512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" name="Google Shape;158;p20"/>
            <p:cNvSpPr txBox="1"/>
            <p:nvPr/>
          </p:nvSpPr>
          <p:spPr>
            <a:xfrm>
              <a:off x="1251835" y="1783400"/>
              <a:ext cx="16029300" cy="77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3675" lIns="93675" spcFirstLastPara="1" rIns="93675" wrap="square" tIns="93675">
              <a:noAutofit/>
            </a:bodyPr>
            <a:lstStyle/>
            <a:p>
              <a:pPr indent="-38735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●"/>
              </a:pPr>
              <a:r>
                <a:rPr b="1"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 Industrial Growth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1" marL="9144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○"/>
              </a:pP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Implement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 focused digitalized single-window 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clearance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system for large scale time 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consuming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sectors like Real Estate, Infrastructure and Textiles.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1" marL="9144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○"/>
              </a:pP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Address the 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tangible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needs of MSMEs and improvised mentorship 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programs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like T-Hub.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●"/>
              </a:pPr>
              <a:r>
                <a:rPr b="1"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 Digital Governance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1" marL="9144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○"/>
              </a:pP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Replicate the successful e-stamp model for other services including agricultural and non-commercial land registrations to improve efficiency and transparency.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1" marL="9144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○"/>
              </a:pP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Enhancement of digital infrastructure to ensure robust and secure data handling and protection for long term reliability and public trust.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●"/>
              </a:pPr>
              <a:r>
                <a:rPr b="1"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 Agrarian Resilience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1" marL="9144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○"/>
              </a:pP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Prioritize climate-aligned irrigation infrastructure in high-variability districts and link agricultural subsidies to water availability.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1" marL="9144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○"/>
              </a:pP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Re-evaluate the subsidy programs to 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target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clusters of farmers and not on the 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entire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state to boost the agrarian activity.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1"/>
          <p:cNvPicPr preferRelativeResize="0"/>
          <p:nvPr/>
        </p:nvPicPr>
        <p:blipFill rotWithShape="1">
          <a:blip r:embed="rId3">
            <a:alphaModFix/>
          </a:blip>
          <a:srcRect b="0" l="2107" r="2116" t="0"/>
          <a:stretch/>
        </p:blipFill>
        <p:spPr>
          <a:xfrm>
            <a:off x="0" y="0"/>
            <a:ext cx="18288003" cy="10286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21"/>
          <p:cNvGrpSpPr/>
          <p:nvPr/>
        </p:nvGrpSpPr>
        <p:grpSpPr>
          <a:xfrm>
            <a:off x="925308" y="489850"/>
            <a:ext cx="16452490" cy="9089750"/>
            <a:chOff x="1251819" y="489850"/>
            <a:chExt cx="16029316" cy="9089750"/>
          </a:xfrm>
        </p:grpSpPr>
        <p:sp>
          <p:nvSpPr>
            <p:cNvPr id="165" name="Google Shape;165;p21"/>
            <p:cNvSpPr txBox="1"/>
            <p:nvPr/>
          </p:nvSpPr>
          <p:spPr>
            <a:xfrm>
              <a:off x="1251819" y="489850"/>
              <a:ext cx="12123300" cy="119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3675" lIns="93675" spcFirstLastPara="1" rIns="93675" wrap="square" tIns="93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122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Conclusion &amp; Future Scope</a:t>
              </a:r>
              <a:endParaRPr b="1" sz="512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" name="Google Shape;166;p21"/>
            <p:cNvSpPr txBox="1"/>
            <p:nvPr/>
          </p:nvSpPr>
          <p:spPr>
            <a:xfrm>
              <a:off x="1251835" y="2276700"/>
              <a:ext cx="16029300" cy="73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3675" lIns="93675" spcFirstLastPara="1" rIns="93675" wrap="square" tIns="93675">
              <a:noAutofit/>
            </a:bodyPr>
            <a:lstStyle/>
            <a:p>
              <a:pPr indent="0" lvl="0" marL="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Conclusion</a:t>
              </a:r>
              <a:endParaRPr b="1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1" marL="9144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○"/>
              </a:pPr>
              <a:r>
                <a:rPr b="1"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Summary 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Our data-driven analysis reframed key problems and provided clear, actionable recommendations.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1" marL="9144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○"/>
              </a:pPr>
              <a:r>
                <a:rPr b="1"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Impact </a:t>
              </a: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This approach allows the government to make informed policy decisions that balance industrial efficiency with agrarian sustainability.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Future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1" marL="9144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○"/>
              </a:pP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Future analysis could include data on loan approvals, crop yields, and irrigation to further refine these insights.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2"/>
          <p:cNvPicPr preferRelativeResize="0"/>
          <p:nvPr/>
        </p:nvPicPr>
        <p:blipFill rotWithShape="1">
          <a:blip r:embed="rId3">
            <a:alphaModFix/>
          </a:blip>
          <a:srcRect b="0" l="2107" r="2116" t="0"/>
          <a:stretch/>
        </p:blipFill>
        <p:spPr>
          <a:xfrm>
            <a:off x="0" y="0"/>
            <a:ext cx="18288003" cy="1028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434098">
            <a:off x="-5513975" y="-5507543"/>
            <a:ext cx="9500259" cy="822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4853503">
            <a:off x="15263480" y="5815303"/>
            <a:ext cx="7252336" cy="822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819206" y="-483161"/>
            <a:ext cx="3878877" cy="2748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2"/>
          <p:cNvPicPr preferRelativeResize="0"/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4461482" y="0"/>
            <a:ext cx="154305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15456423" y="1358736"/>
            <a:ext cx="16230600" cy="75675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" name="Google Shape;177;p22"/>
          <p:cNvGrpSpPr/>
          <p:nvPr/>
        </p:nvGrpSpPr>
        <p:grpSpPr>
          <a:xfrm>
            <a:off x="925300" y="671075"/>
            <a:ext cx="16452499" cy="8908525"/>
            <a:chOff x="1251811" y="671075"/>
            <a:chExt cx="16029324" cy="8908525"/>
          </a:xfrm>
        </p:grpSpPr>
        <p:sp>
          <p:nvSpPr>
            <p:cNvPr id="178" name="Google Shape;178;p22"/>
            <p:cNvSpPr txBox="1"/>
            <p:nvPr/>
          </p:nvSpPr>
          <p:spPr>
            <a:xfrm>
              <a:off x="1251811" y="671075"/>
              <a:ext cx="12123300" cy="101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3675" lIns="93675" spcFirstLastPara="1" rIns="93675" wrap="square" tIns="93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122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Resources &amp; References</a:t>
              </a:r>
              <a:endParaRPr b="1" sz="512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9" name="Google Shape;179;p22"/>
            <p:cNvSpPr txBox="1"/>
            <p:nvPr/>
          </p:nvSpPr>
          <p:spPr>
            <a:xfrm>
              <a:off x="1251835" y="2276700"/>
              <a:ext cx="16029300" cy="73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3675" lIns="93675" spcFirstLastPara="1" rIns="93675" wrap="square" tIns="93675">
              <a:noAutofit/>
            </a:bodyPr>
            <a:lstStyle/>
            <a:p>
              <a:pPr indent="-387350" lvl="0" marL="4572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●"/>
              </a:pP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Dataset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1" marL="9144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○"/>
              </a:pP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Open Data Telangana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2" marL="13716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■"/>
              </a:pPr>
              <a:r>
                <a:rPr lang="en-US" sz="2500" u="sng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  <a:hlinkClick r:id="rId9"/>
                </a:rPr>
                <a:t>TS-iPASS Data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2" marL="13716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■"/>
              </a:pPr>
              <a:r>
                <a:rPr lang="en-US" sz="2500" u="sng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  <a:hlinkClick r:id="rId10"/>
                </a:rPr>
                <a:t>RTA Registration Data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1" marL="9144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○"/>
              </a:pP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Google Drive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2" marL="13716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■"/>
              </a:pPr>
              <a:r>
                <a:rPr lang="en-US" sz="2500" u="sng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  <a:hlinkClick r:id="rId11"/>
                </a:rPr>
                <a:t>Weather Data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2" marL="13716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■"/>
              </a:pPr>
              <a:r>
                <a:rPr lang="en-US" sz="2500" u="sng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  <a:hlinkClick r:id="rId12"/>
                </a:rPr>
                <a:t>TS-iPASS Data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2" marL="13716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■"/>
              </a:pPr>
              <a:r>
                <a:rPr lang="en-US" sz="2500" u="sng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  <a:hlinkClick r:id="rId13"/>
                </a:rPr>
                <a:t>RTA Registration Data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0" marL="4572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●"/>
              </a:pP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Web-scraping Script :  </a:t>
              </a:r>
              <a:r>
                <a:rPr lang="en-US" sz="2500" u="sng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  <a:hlinkClick r:id="rId14"/>
                </a:rPr>
                <a:t>Data Collection Notebook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87350" lvl="0" marL="45720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Times New Roman"/>
                <a:buChar char="●"/>
              </a:pPr>
              <a:r>
                <a:rPr lang="en-US" sz="25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Analysis Notebook : </a:t>
              </a:r>
              <a:r>
                <a:rPr lang="en-US" sz="2500" u="sng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  <a:hlinkClick r:id="rId15"/>
                </a:rPr>
                <a:t>Analysis Notebook</a:t>
              </a:r>
              <a:endParaRPr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